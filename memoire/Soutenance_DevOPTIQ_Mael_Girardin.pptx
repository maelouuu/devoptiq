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371600" cy="914400"/>
          </a:xfrm>
          <a:prstGeom prst="rect">
            <a:avLst/>
          </a:prstGeom>
        </p:spPr>
      </p:pic>
      <p:pic>
        <p:nvPicPr>
          <p:cNvPr id="5" name="Picture 4" descr="img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66928"/>
            <a:ext cx="2011680" cy="680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574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150">
                <a:solidFill>
                  <a:srgbClr val="BE185D"/>
                </a:solidFill>
                <a:latin typeface="Calibri"/>
              </a:rPr>
              <a:t>MÉMOIRE D'ALTERNANCE  ·  B.U.T. INFORMATIQUE — 3ᵉ ANNÉE  · 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0F172A"/>
                </a:solidFill>
                <a:latin typeface="Georgia"/>
              </a:rPr>
              <a:t>De la maquette au produit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75504" y="3822191"/>
            <a:ext cx="1554480" cy="431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84848" y="3767328"/>
            <a:ext cx="146304" cy="1463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069080"/>
            <a:ext cx="8531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  <a:latin typeface="Calibri"/>
              </a:rPr>
              <a:t>Anatomie d'une professionnalisation : faire grandir une application de management 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  <a:latin typeface="Calibri"/>
              </a:rPr>
              <a:t>des compétences — et grandir avec elle.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5257800"/>
            <a:ext cx="9079992" cy="960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41324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Maël GIRARDIN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  —      IUT — site d'Arles  ·  Département Informatique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9729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Maître d'alternance : </a:t>
            </a:r>
            <a:r>
              <a:rPr sz="1200" b="1" i="0">
                <a:solidFill>
                  <a:srgbClr val="BE185D"/>
                </a:solidFill>
                <a:latin typeface="Calibri"/>
              </a:rPr>
              <a:t>Hubert GRANDJEAN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       Tuteur IUT : </a:t>
            </a:r>
            <a:r>
              <a:rPr sz="1200" b="1" i="0">
                <a:solidFill>
                  <a:srgbClr val="15803D"/>
                </a:solidFill>
                <a:latin typeface="Calibri"/>
              </a:rPr>
              <a:t>Bruno COLOMBEL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DÉROULÉ DE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12264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122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L'entreprise &amp; le projet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—  l'A.F.D.E.C, la méthode OPTIQ, et le basculement maquette →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52344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2898648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986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523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Le développement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—  quatre franchissements dans le code, en regard « avant / après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8728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685032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85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3872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Professionnaliser le produit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—  base de données en production, tests,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25112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4471416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7141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25112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Analyse critique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—  l'arbitrage assumé, la sécurité, le plan de durcissement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11496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5257800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2578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338C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114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Formation &amp; entreprise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 —  ce que l'IUT a apporté, ce que j'ai dû renforcer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LA QUESTION QUI GUIDE CE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Problématique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286000"/>
            <a:ext cx="10149840" cy="24688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286000"/>
            <a:ext cx="91440" cy="246888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923544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0F172A"/>
                </a:solidFill>
                <a:latin typeface="Calibri"/>
              </a:rPr>
              <a:t>Comment transformer une </a:t>
            </a:r>
            <a:r>
              <a:rPr sz="2300" b="1" i="0">
                <a:solidFill>
                  <a:srgbClr val="BE185D"/>
                </a:solidFill>
                <a:latin typeface="Calibri"/>
              </a:rPr>
              <a:t>maquette</a:t>
            </a:r>
            <a:r>
              <a:rPr sz="2300" b="0" i="0">
                <a:solidFill>
                  <a:srgbClr val="0F172A"/>
                </a:solidFill>
                <a:latin typeface="Calibri"/>
              </a:rPr>
              <a:t> en un </a:t>
            </a:r>
            <a:r>
              <a:rPr sz="2300" b="1" i="0">
                <a:solidFill>
                  <a:srgbClr val="15803D"/>
                </a:solidFill>
                <a:latin typeface="Calibri"/>
              </a:rPr>
              <a:t>produit professionnel et commercialisable</a:t>
            </a:r>
            <a:r>
              <a:rPr sz="2300" b="0" i="0">
                <a:solidFill>
                  <a:srgbClr val="0F172A"/>
                </a:solidFill>
                <a:latin typeface="Calibri"/>
              </a:rPr>
              <a:t>, et en quoi cette transformation constitue-t-elle, pour le développeur en alternance, un véritable </a:t>
            </a:r>
            <a:r>
              <a:rPr sz="2300" b="1" i="0">
                <a:solidFill>
                  <a:srgbClr val="4338CA"/>
                </a:solidFill>
                <a:latin typeface="Calibri"/>
              </a:rPr>
              <a:t>levier de montée en compétences</a:t>
            </a:r>
            <a:r>
              <a:rPr sz="2300" b="0" i="0">
                <a:solidFill>
                  <a:srgbClr val="0F172A"/>
                </a:solidFill>
                <a:latin typeface="Calibri"/>
              </a:rPr>
              <a:t>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  <a:latin typeface="Calibri"/>
              </a:rPr>
              <a:t>Deux trajectoires, une même histoire : faire grandir le projet — et grandir avec lui.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 ·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L'A.F.D.E.C &amp; la méthode OPTIQ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5212080" cy="228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L'A.F.D.E.C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569464"/>
            <a:ext cx="482803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Laboratoire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de recherche appliquée sur les organisations apprenantes et performantes.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Management des compétences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, cartographie du travail réel, pilotage des activités et des rôles.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Normes françaises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X50-124 (compétences) et X50-766 (habiletés socio-cognitives).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9659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196596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94560"/>
            <a:ext cx="5486400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5212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 méthode OPTIQ©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569464"/>
            <a:ext cx="510235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CartoColor©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— la carte des activités : chacun se situe dans le flux et voit ses compétences clés.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OPTIQFluent©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— compétences, performances, charge de travail ; des fiches de poste aux fiches de rôle.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La cartographie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= le point d'entrée central de l'application.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82296" cy="8686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E185D"/>
                </a:solidFill>
                <a:latin typeface="Calibri"/>
              </a:rPr>
              <a:t>L'objectif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Rendre la méthode OPTIQ accessible à tous — sans en trahir la finesse : ni base trop rigide, ni interface trop verbeuse.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 · MON 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Du stagiaire au co-concepteur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011680"/>
            <a:ext cx="3502152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1945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Stage — 2ᵉ année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578608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578608"/>
            <a:ext cx="13716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12 semaines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9718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Reprendre l'existant, consolider, livrer une maquette à présenter.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26517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20116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2011680"/>
            <a:ext cx="3502152" cy="8229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Été — 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578608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578608"/>
            <a:ext cx="13716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la continuité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718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L'idée d'un produit complet commence à mûrir.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6" y="26517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0116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2011680"/>
            <a:ext cx="3502152" cy="82296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1945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Alternance — 3ᵉ année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2578608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578608"/>
            <a:ext cx="13716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une année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9718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Transformer la maquette en produit : structure, visuel, tests, doc.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77639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EC4899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D'exécutant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 de missions à interlocuteur avec qui l'on réfléchit le produit.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EC4899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Co-construction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 : je propose, Hubert challenge, on arbitre — d'égal à égal.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EC4899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Une responsabilité de pilotage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 : priorités, séquencement, versions stables pendant les absences.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977639"/>
            <a:ext cx="3886200" cy="178308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3977639"/>
            <a:ext cx="91440" cy="17830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3977639"/>
            <a:ext cx="3520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E185D"/>
                </a:solidFill>
                <a:latin typeface="Georgia"/>
              </a:rPr>
              <a:t>« Je ne délivrais plus un travail 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E185D"/>
                </a:solidFill>
                <a:latin typeface="Georgia"/>
              </a:rPr>
              <a:t>je co-soutenais une vision.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 · LE TOURNANT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Georgia"/>
              </a:rPr>
              <a:t>La maquette devient trop convaincante pour rester une maquette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5321808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74519"/>
            <a:ext cx="82296" cy="1170432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002535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①  Solidifier la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377439"/>
            <a:ext cx="4864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475569"/>
                </a:solidFill>
                <a:latin typeface="Calibri"/>
              </a:rPr>
              <a:t>Base de données robuste, migrations sûres, gestion d'erreurs : un produit ne plante pas chez le client.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874519"/>
            <a:ext cx="5321808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874519"/>
            <a:ext cx="82296" cy="11704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02535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②  Soigner le visuel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77439"/>
            <a:ext cx="4864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475569"/>
                </a:solidFill>
                <a:latin typeface="Calibri"/>
              </a:rPr>
              <a:t>Une identité (rose / vert / blanc) pour passer d'un outil fonctionnel à un produit désirable.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1"/>
            <a:ext cx="5321808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27831"/>
            <a:ext cx="82296" cy="11704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355847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③  Garantir la fiabilité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730751"/>
            <a:ext cx="4864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475569"/>
                </a:solidFill>
                <a:latin typeface="Calibri"/>
              </a:rPr>
              <a:t>Documentation et batterie de tests : un produit rend compte de son propre état de santé.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227831"/>
            <a:ext cx="5321808" cy="11704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227831"/>
            <a:ext cx="82296" cy="1170432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355847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④  Penser le multi-client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730751"/>
            <a:ext cx="4864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475569"/>
                </a:solidFill>
                <a:latin typeface="Calibri"/>
              </a:rPr>
              <a:t>Comptes et entités pour cloisonner les données : le marqueur d'une logique commerciale.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82296" cy="7498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10424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Le pourquoi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On ne présente plus une idée à financer, mais une solution à acheter : l'exercice de dev devient un projet d'ingénierie produit.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CE QUI A ÉTÉ CONSTRUIT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Une application web complète, ~30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1755648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64008" cy="105156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75688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BE185D"/>
                </a:solidFill>
                <a:latin typeface="Georgia"/>
              </a:rPr>
              <a:t>~55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Blueprints Flask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1965960"/>
            <a:ext cx="1755648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1965960"/>
            <a:ext cx="64008" cy="1051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075688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5803D"/>
                </a:solidFill>
                <a:latin typeface="Georgia"/>
              </a:rP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50592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Modèles de données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965960"/>
            <a:ext cx="1755648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65960"/>
            <a:ext cx="64008" cy="105156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75688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BE185D"/>
                </a:solidFill>
                <a:latin typeface="Georgia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50592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Gabarits (templates)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65960"/>
            <a:ext cx="1755648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965960"/>
            <a:ext cx="64008" cy="1051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075688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5803D"/>
                </a:solidFill>
                <a:latin typeface="Georgia"/>
              </a:rPr>
              <a:t>~69k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450592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Lignes de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2461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Les grands domaines fonctionnels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8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3785616"/>
            <a:ext cx="118872" cy="11887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6118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Concepteur de cartographie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61188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8561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36118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Activités &amp; tâches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78808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4352544"/>
            <a:ext cx="118872" cy="11887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1788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Compétences (savoirs · HSC)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178808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26280" y="4352544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1788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Gestion RH &amp; comptes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745736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2960" y="4919472"/>
            <a:ext cx="118872" cy="11887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74573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Performance &amp; temps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745736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26280" y="491947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474573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0F172A"/>
                </a:solidFill>
                <a:latin typeface="Calibri"/>
              </a:rPr>
              <a:t>Briques d'IA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49879" y="3552716"/>
            <a:ext cx="3405560" cy="17185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3586716"/>
            <a:ext cx="3337560" cy="16505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183879" y="55321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Le Concepteur de cartographie, aujourd'hui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779008"/>
            <a:ext cx="736092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5779008"/>
            <a:ext cx="6400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5779008"/>
            <a:ext cx="6995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803D"/>
                </a:solidFill>
                <a:latin typeface="Calibri"/>
              </a:rPr>
              <a:t>Priorité assumée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d'abord la richesse fonctionnelle ; la sécurité de pointe et l'optimisation, plus tard (Partie III).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CAS N°1 — AUTONOMIE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Georgia"/>
              </a:rPr>
              <a:t>Notre propre outil : le Concepteur de cartographie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0881360" cy="566928"/>
          </a:xfrm>
          <a:prstGeom prst="roundRect">
            <a:avLst>
              <a:gd name="adj" fmla="val 1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73152" cy="5669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783080"/>
            <a:ext cx="10469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185D"/>
                </a:solidFill>
                <a:latin typeface="Calibri"/>
              </a:rPr>
              <a:t>Le pas franchi 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Cartographie dessinée sous Visio (outil tiers payant)  →  éditeur SVG intégré, autonome</a:t>
            </a:r>
          </a:p>
        </p:txBody>
      </p:sp>
      <p:pic>
        <p:nvPicPr>
          <p:cNvPr id="14" name="Picture 1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68" y="2560320"/>
            <a:ext cx="5991583" cy="2743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64402" y="2526320"/>
            <a:ext cx="3673596" cy="1851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402" y="2560320"/>
            <a:ext cx="3605596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960" y="44074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L'éditeur intégré, en vrai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736592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&gt; 6 500 lignes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de JavaScript, entièrement maison.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Dessin → JSON → base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la carte est une structure vivante, pas une image.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676656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6400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486400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803D"/>
                </a:solidFill>
                <a:latin typeface="Calibri"/>
              </a:rPr>
              <a:t>Ce que ce choix traduit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supprimer une dépendance tierce, c'est rendre le produit vendable et autosuffisant.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CAS N°2 — LE VIRAGE COMMERCIAL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Georgia"/>
              </a:rPr>
              <a:t>Le système multi-entités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0881360" cy="566928"/>
          </a:xfrm>
          <a:prstGeom prst="roundRect">
            <a:avLst>
              <a:gd name="adj" fmla="val 1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73152" cy="5669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783080"/>
            <a:ext cx="10469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185D"/>
                </a:solidFill>
                <a:latin typeface="Calibri"/>
              </a:rPr>
              <a:t>Le pas franchi 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Les données d'une seule organisation  →  un espace cloisonné et étanche par client</a:t>
            </a:r>
          </a:p>
        </p:txBody>
      </p:sp>
      <p:pic>
        <p:nvPicPr>
          <p:cNvPr id="14" name="Picture 1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17" y="2560320"/>
            <a:ext cx="6303645" cy="2743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43800" y="2578608"/>
            <a:ext cx="3977639" cy="178308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2670048"/>
            <a:ext cx="3703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803D"/>
                </a:solidFill>
                <a:latin typeface="Calibri"/>
              </a:rPr>
              <a:t>● APRÈS — isolation par propriétaire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2962656"/>
            <a:ext cx="364845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3035808"/>
            <a:ext cx="3666743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active = Entity.get_active()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activities = (Activities.query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.filter_by(entity_id=active.id)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.all())   # ← chaque client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526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4526280"/>
            <a:ext cx="64008" cy="9144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46360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BE185D"/>
                </a:solidFill>
                <a:latin typeface="Georgia"/>
              </a:rPr>
              <a:t>+340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4873752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filtres entity_id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4526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4526280"/>
            <a:ext cx="64008" cy="9144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46360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5803D"/>
                </a:solidFill>
                <a:latin typeface="Georgia"/>
              </a:rPr>
              <a:t>230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873752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réf. entité 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667512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532120"/>
            <a:ext cx="6400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532120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803D"/>
                </a:solidFill>
                <a:latin typeface="Calibri"/>
              </a:rPr>
              <a:t>Selon moi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le marqueur le plus net du passage au produit : repenser chaque requête de l'application.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CAS N°3 — DURABILITÉ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Georgia"/>
              </a:rPr>
              <a:t>Penser le cloud : le stockage des fichiers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0881360" cy="566928"/>
          </a:xfrm>
          <a:prstGeom prst="roundRect">
            <a:avLst>
              <a:gd name="adj" fmla="val 1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73152" cy="5669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783080"/>
            <a:ext cx="10469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185D"/>
                </a:solidFill>
                <a:latin typeface="Calibri"/>
              </a:rPr>
              <a:t>Le pas franchi 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Des fichiers écrits sur le disque (volatils en cloud)  →  un stockage durable, en 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974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91C1C"/>
                </a:solidFill>
                <a:latin typeface="Calibri"/>
              </a:rPr>
              <a:t>● AVANT — disque du conteneur (volatil)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2990088"/>
            <a:ext cx="5020056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503834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UPLOAD_DIR = os.path.join(root, "uploads")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def upload_file():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f = request.files["file"]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f.save(path)   # perdu au redémarrage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060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6974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803D"/>
                </a:solidFill>
                <a:latin typeface="Calibri"/>
              </a:rPr>
              <a:t>● APRÈS — binaire persistant en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2990088"/>
            <a:ext cx="5020056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63240"/>
            <a:ext cx="503834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class FileBlob(db.Model):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data = db.Column(db.LargeBinary)  # BYTEA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blob = FileBlob(data=f.read())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db.session.add(blob); db.session.commit()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56048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56048"/>
            <a:ext cx="82296" cy="71323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10424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E185D"/>
                </a:solidFill>
                <a:latin typeface="Calibri"/>
              </a:rPr>
              <a:t>Le contexte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Google Cloud Run : système de fichiers éphémère. Au redémarrage, le disque est effacé — les fichiers des clients s'évanouissent.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79008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779008"/>
            <a:ext cx="6400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7900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803D"/>
                </a:solidFill>
                <a:latin typeface="Calibri"/>
              </a:rPr>
              <a:t>Ce que ce choix traduit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cesser de coder « en général » pour coder pour son environnement réel : comprendre la cible de déploiement avant le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CAS N°4 — LE SOIN DU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Georgia"/>
              </a:rPr>
              <a:t>Désirable &amp; increvable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E185D"/>
                </a:solidFill>
                <a:latin typeface="Calibri"/>
              </a:rPr>
              <a:t>Désirable  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— une identité qui donne envie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080" y="2259537"/>
            <a:ext cx="2765480" cy="13788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3537"/>
            <a:ext cx="2697480" cy="131080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95000" y="2254268"/>
            <a:ext cx="2765480" cy="13893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288268"/>
            <a:ext cx="2697480" cy="1321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73075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avant — générique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3075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après — identité de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C4899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Un design system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 : jetons de couleur rose #ec4899 / vert #22c55e / blanc, sur toute l'application.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803D"/>
                </a:solidFill>
                <a:latin typeface="Calibri"/>
              </a:rPr>
              <a:t>Increvable  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— une IA qui ne fait jamais planter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194560"/>
            <a:ext cx="5166360" cy="178308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524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286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803D"/>
                </a:solidFill>
                <a:latin typeface="Calibri"/>
              </a:rPr>
              <a:t>● APRÈS — client optionnel + repli déterministe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2578608"/>
            <a:ext cx="4837176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485546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def openai_client_or_none():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if not os.environ.get("OPENAI_API_KEY"):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    return None, "clé absente"  # jamais 500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    ...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i="0">
                <a:solidFill>
                  <a:srgbClr val="0F172A"/>
                </a:solidFill>
                <a:latin typeface="Consolas"/>
              </a:rPr>
              <a:t># repli si l'IA est indisponible → l'app reste debout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114800"/>
            <a:ext cx="5166360" cy="8229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D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114800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Calibri"/>
              </a:rPr>
              <a:t>Cadre &amp; éthique 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l'IA propose, l'humain valide. Confidentialité, traçabilité des prompts, prévention du prompt injection : une doctrine A.F.D.E.C.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38928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138928"/>
            <a:ext cx="6400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3892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803D"/>
                </a:solidFill>
                <a:latin typeface="Calibri"/>
              </a:rPr>
              <a:t>Ce que ces finitions traduisent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deux exigences qu'une démo ignore : séduire, et ne jamais décevoir — car dans un produit, l'erreur n'est pas permise.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30384" y="310896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30384" y="310896"/>
            <a:ext cx="16642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● </a:t>
            </a:r>
            <a:r>
              <a:rPr sz="1250" b="1" i="0" spc="120">
                <a:solidFill>
                  <a:srgbClr val="FFFFFF"/>
                </a:solidFill>
                <a:latin typeface="Calibri"/>
              </a:rPr>
              <a:t>A.F.D.E.C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BE185D"/>
                </a:solidFill>
                <a:latin typeface="Calibri"/>
              </a:rPr>
              <a:t>PARTIE II · CHANGEMENT DE RÉGIME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Georgia"/>
              </a:rPr>
              <a:t>Professionnaliser : structure, tests,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3502152" cy="24688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48840"/>
            <a:ext cx="3502152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Fiabiliser la BDD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523744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PostgreSQL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en prod, SQLite en dev &amp; tests.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ALTER TABLE idempotents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au démarrage — nés d'un incident Alembic (verrou, crash en boucle).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Robustesse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UPSERT, journal d'activité automatique.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920240"/>
            <a:ext cx="3502152" cy="246888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25112" y="192024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2148840"/>
            <a:ext cx="3502152" cy="228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92024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523744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+ 1 000 tests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automatisés, 41 fichiers, ~16k lignes.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/testpanel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l'état de santé, lisible depuis l'interface.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~93 % de réussite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au dernier run — la peur des régressions devient confiance.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1920240"/>
            <a:ext cx="3502152" cy="24688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10144" y="192024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2148840"/>
            <a:ext cx="3502152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192024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Documenter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523744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Doc technique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architecture, modèles, API, déploiement.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Guide utilisateur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pour les futurs clients.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Transmettre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plutôt que détenir : un actif repris, audité, étendu.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80" y="4583720"/>
            <a:ext cx="1816360" cy="1485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17720"/>
            <a:ext cx="1748360" cy="14173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77840" y="4754880"/>
            <a:ext cx="5943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Le panneau de tests intégré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Taux de réussite, durée moyenne, historique des runs, détail jusqu'au test unitaire.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L'application rend compte, run après run, de son propre état de santé — y compris pour un non-développeur.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PARTIE III · ANALYSE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Georgia"/>
              </a:rPr>
              <a:t>Le fonctionnel d'abord, la sécurité ensuite — un choix assumé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49240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  Atteint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23744"/>
            <a:ext cx="49651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Produit déployé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, multi-entités, cloisonnement strict des données.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Identité visuelle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cohérente + mots de passe hachés (werkzeug).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+1 000 tests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et documentation technique &amp; utilisateur.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2024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48840"/>
            <a:ext cx="5349240" cy="228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→  Encore ouvert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23744"/>
            <a:ext cx="49651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45309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Durcissement sécurité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CSRF, rate-limit, garde d'accès systématique, en-têtes HTTP.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45309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Optimisation fine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requêtes, cache (volumes encore modestes).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45309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Distribution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installer, facturer, accompagner — le défi suivant.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348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Un plan de durcissement avant commercialisation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00600"/>
            <a:ext cx="3502152" cy="9601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00600"/>
            <a:ext cx="3502152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9286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Court terme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257800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tests en conditions réelles, sécurité, transfert des données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4800600"/>
            <a:ext cx="3502152" cy="9601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4800600"/>
            <a:ext cx="3502152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9286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Moyen terme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257800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sauvegarde/récupération, montée en charge, assurance qualité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800600"/>
            <a:ext cx="3502152" cy="9601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4800600"/>
            <a:ext cx="3502152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4928616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Long terme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5257800"/>
            <a:ext cx="3118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SaaS mature : audit, monitoring, RGPD chez le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  <a:latin typeface="Calibri"/>
              </a:rPr>
              <a:t>Ces manques ne sont pas des oublis, mais une </a:t>
            </a:r>
            <a:r>
              <a:rPr sz="1200" b="1" i="1">
                <a:solidFill>
                  <a:srgbClr val="4338CA"/>
                </a:solidFill>
                <a:latin typeface="Calibri"/>
              </a:rPr>
              <a:t>dette technique consciente, identifiée et priorisée.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FORMATION &amp; ENTREPRISE · REGARDS CROISÉS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Georgia"/>
              </a:rPr>
              <a:t>Ce que l'IUT a apporté, ce que j'ai dû renforcer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502152" cy="306324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3502152" cy="228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  Ce qui a aidé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69464"/>
            <a:ext cx="311810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Pile technique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HTML, CSS, JS, SQL — familiers depuis la 2ᵉ année web.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Python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proche des langages objet déjà maîtrisés.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15803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Agilité &amp; comptes rendus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directement issus des SAE et projets de groupe.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965960"/>
            <a:ext cx="3502152" cy="3063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196596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194560"/>
            <a:ext cx="3502152" cy="2286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6596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≈  Ce que l'école n'enseigne qu'en théorie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9464"/>
            <a:ext cx="311810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La continuité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un an sur le même produit, là où les projets sont morcelés.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La responsabilité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le code engage le projet, l'équipe, l'entreprise.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La vision produit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déploiement, pannes, tests — ancrés par le réel.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965960"/>
            <a:ext cx="3502152" cy="306324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1965960"/>
            <a:ext cx="3502152" cy="457200"/>
          </a:xfrm>
          <a:prstGeom prst="roundRect">
            <a:avLst>
              <a:gd name="adj" fmla="val 6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194560"/>
            <a:ext cx="3502152" cy="228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965960"/>
            <a:ext cx="3227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↑  Ce que j'ai dû renforcer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569464"/>
            <a:ext cx="311810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L'IA comme outil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de dev : peu abordée en formation (logique d'évaluation).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L'arbitrage sécurité / fonctionnel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entrevu chez M. Chikhaoui, vécu en entreprise.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Le relationnel à l'international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échanges en anglais (Inde) — un axe de progrès assumé.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57800"/>
            <a:ext cx="64008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5780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338CA"/>
                </a:solidFill>
                <a:latin typeface="Calibri"/>
              </a:rPr>
              <a:t>L'IA, des deux côtés 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outil de développement ET matière du produit (elle y propose savoirs et HSC) — avoir d'abord appris à coder sans elle m'a permis de la mobiliser, pas de m'y substituer.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PARTIE III · BÉNÉFICES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Pour l'entreprise, pour le projet — et pour moi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2286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Pour l'A.F.D.E.C &amp; le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69464"/>
            <a:ext cx="49651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Stratégique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Docker → Cloud Run, on paie l'usage. Une frugalité qui rend le projet soutenable.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Patrimonial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un actif documenté, testé, déployé — non plus une démo dépendante de son auteur.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Pensé commercial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la base embarque ses données de test, le multi-entités dès la conception.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5349240" cy="457200"/>
          </a:xfrm>
          <a:prstGeom prst="roundRect">
            <a:avLst>
              <a:gd name="adj" fmla="val 6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94560"/>
            <a:ext cx="5349240" cy="228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Pour moi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69464"/>
            <a:ext cx="49651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Montée en responsabilité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de stagiaire à une forme d'association au projet.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De l'exécution à la co-construction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défendre une architecture, accepter qu'elle évolue.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BE185D"/>
                </a:solidFill>
                <a:latin typeface="Calibri"/>
              </a:rPr>
              <a:t>—  </a:t>
            </a:r>
            <a:r>
              <a:rPr sz="1130" b="1" i="0">
                <a:solidFill>
                  <a:srgbClr val="0F172A"/>
                </a:solidFill>
                <a:latin typeface="Calibri"/>
              </a:rPr>
              <a:t>Maturité d'ingénieur produit</a:t>
            </a:r>
            <a:r>
              <a:rPr sz="1130" b="0" i="0">
                <a:solidFill>
                  <a:srgbClr val="0F172A"/>
                </a:solidFill>
                <a:latin typeface="Calibri"/>
              </a:rPr>
              <a:t> : du « faire marcher » au « faire tenir 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91440" cy="10058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4338CA"/>
                </a:solidFill>
                <a:latin typeface="Georgia"/>
              </a:rPr>
              <a:t>« En apprenant à faire grandir un projet, j'ai grandi avec lui.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48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90">
                <a:solidFill>
                  <a:srgbClr val="4338CA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5039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J'avais repris une maquette ; je laisse un produit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609344"/>
            <a:ext cx="1371600" cy="4064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La technique n'est jamais neutre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 : derrière un filtre entity_id, le respect des données d'autrui ; derrière un fallback, le refus de laisser tomber l'utilisateur.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Nommer ce qui n'est pas fini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 — sécurité, optimisation, distribution — non comme des échecs, mais comme le trajet qui reste.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i="0">
                <a:solidFill>
                  <a:srgbClr val="4338CA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Le centre de gravité se déplace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 du développement vers la commercialisation : un terrain nouveau, et passionnant.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91440" cy="12344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5803D"/>
                </a:solidFill>
                <a:latin typeface="Calibri"/>
              </a:rPr>
              <a:t>La réponse à la problématique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transformer une maquette en produit fut bien un véritable levier de montée en compétences.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7550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  <a:latin typeface="Calibri"/>
              </a:rPr>
              <a:t>La méthode OPTIQ veut révéler la place de chacun dans une organisation ; en la rendant accessible, j'ai surtout découvert la mienne.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7772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5569"/>
                </a:solidFill>
                <a:latin typeface="Calibri"/>
              </a:rPr>
              <a:t>De la maquette au produit</a:t>
            </a:r>
            <a:r>
              <a:rPr sz="900" b="0" i="0">
                <a:solidFill>
                  <a:srgbClr val="64748B"/>
                </a:solidFill>
                <a:latin typeface="Calibri"/>
              </a:rPr>
              <a:t>   ·   Soutenance — Maël Girardin · A.F.D.E.C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0F172A"/>
                </a:solidFill>
                <a:latin typeface="Georgia"/>
              </a:rPr>
              <a:t>Merci de votre attention.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9824" y="3611880"/>
            <a:ext cx="1280160" cy="40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84848" y="3566160"/>
            <a:ext cx="137160" cy="1371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475569"/>
                </a:solidFill>
                <a:latin typeface="Calibri"/>
              </a:rPr>
              <a:t>Place à vos questions.</a:t>
            </a:r>
          </a:p>
        </p:txBody>
      </p:sp>
      <p:pic>
        <p:nvPicPr>
          <p:cNvPr id="11" name="Picture 10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5029200"/>
            <a:ext cx="1165860" cy="777240"/>
          </a:xfrm>
          <a:prstGeom prst="rect">
            <a:avLst/>
          </a:prstGeom>
        </p:spPr>
      </p:pic>
      <p:pic>
        <p:nvPicPr>
          <p:cNvPr id="12" name="Picture 11" descr="img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108992"/>
            <a:ext cx="1691640" cy="57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